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09560" y="0"/>
            <a:ext cx="4282135" cy="6858000"/>
          </a:xfrm>
          <a:prstGeom prst="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6766560" cy="32004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139D91"/>
                </a:solidFill>
                <a:latin typeface="Aptos"/>
              </a:defRPr>
            </a:pPr>
            <a:r>
              <a:t>POWER BI BUSINESS ANALYTICS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6766560" cy="132588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3100" b="1" i="0">
                <a:solidFill>
                  <a:srgbClr val="FFFFFF"/>
                </a:solidFill>
                <a:latin typeface="Aptos"/>
              </a:defRPr>
            </a:pPr>
            <a:r>
              <a:t>FINANCIAL PERFORMANCE</a:t>
            </a:r>
          </a:p>
          <a:p>
            <a:pPr algn="l">
              <a:spcAft>
                <a:spcPts val="300"/>
              </a:spcAft>
              <a:defRPr sz="3100" b="1" i="0">
                <a:solidFill>
                  <a:srgbClr val="FFFFFF"/>
                </a:solidFill>
                <a:latin typeface="Aptos"/>
              </a:defRPr>
            </a:pPr>
            <a:r>
              <a:t>&amp; BUDGET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6492240" cy="82296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800" b="0" i="0">
                <a:solidFill>
                  <a:srgbClr val="D8E4F1"/>
                </a:solidFill>
                <a:latin typeface="Aptos"/>
              </a:defRPr>
            </a:pPr>
            <a:r>
              <a:t>Business Problems → Dashboard Insights →</a:t>
            </a:r>
          </a:p>
          <a:p>
            <a:pPr algn="l">
              <a:spcAft>
                <a:spcPts val="300"/>
              </a:spcAft>
              <a:defRPr sz="1800" b="0" i="0">
                <a:solidFill>
                  <a:srgbClr val="D8E4F1"/>
                </a:solidFill>
                <a:latin typeface="Aptos"/>
              </a:defRPr>
            </a:pPr>
            <a:r>
              <a:t>Solutions &amp; Recommendations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343400"/>
            <a:ext cx="1554480" cy="50292"/>
          </a:xfrm>
          <a:prstGeom prst="rect">
            <a:avLst/>
          </a:prstGeom>
          <a:solidFill>
            <a:srgbClr val="EEB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663440"/>
            <a:ext cx="6400800" cy="5029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C0D2E5"/>
                </a:solidFill>
                <a:latin typeface="Aptos"/>
              </a:defRPr>
            </a:pPr>
            <a:r>
              <a:t>A data-driven review of revenue, expenses,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C0D2E5"/>
                </a:solidFill>
                <a:latin typeface="Aptos"/>
              </a:defRPr>
            </a:pPr>
            <a:r>
              <a:t>budget variance and profitability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005840"/>
            <a:ext cx="2971800" cy="1024128"/>
          </a:xfrm>
          <a:prstGeom prst="roundRect">
            <a:avLst/>
          </a:prstGeom>
          <a:solidFill>
            <a:srgbClr val="277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161288"/>
            <a:ext cx="2468880" cy="21031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426464"/>
            <a:ext cx="2468880" cy="38404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t>9.64M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331720"/>
            <a:ext cx="2971800" cy="1024128"/>
          </a:xfrm>
          <a:prstGeom prst="round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2487168"/>
            <a:ext cx="2468880" cy="21031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TOTAL EXPENSES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752344"/>
            <a:ext cx="2468880" cy="38404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t>6.93M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657600"/>
            <a:ext cx="2971800" cy="1024128"/>
          </a:xfrm>
          <a:prstGeom prst="roundRect">
            <a:avLst/>
          </a:prstGeom>
          <a:solidFill>
            <a:srgbClr val="7E4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3813048"/>
            <a:ext cx="2468880" cy="21031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NET PROFIT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4078224"/>
            <a:ext cx="2468880" cy="38404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t>2.71M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263640"/>
            <a:ext cx="6400800" cy="20116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5B8CD"/>
                </a:solidFill>
                <a:latin typeface="Aptos"/>
              </a:defRPr>
            </a:pPr>
            <a:r>
              <a:t>Prepared from the supplied Power BI dashboard screenshots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3891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2233D"/>
                </a:solidFill>
                <a:latin typeface="Aptos"/>
              </a:defRPr>
            </a:pPr>
            <a:r>
              <a:t>Project Objective &amp;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0664"/>
            <a:ext cx="1069848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637082"/>
                </a:solidFill>
                <a:latin typeface="Aptos"/>
              </a:defRPr>
            </a:pPr>
            <a:r>
              <a:t>What the dashboard is designed to help business users understand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29184"/>
            <a:ext cx="640080" cy="20116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277DD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520440" cy="1325880"/>
          </a:xfrm>
          <a:prstGeom prst="roundRect">
            <a:avLst/>
          </a:prstGeom>
          <a:solidFill>
            <a:srgbClr val="E7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1325880"/>
          </a:xfrm>
          <a:prstGeom prst="rect">
            <a:avLst/>
          </a:prstGeom>
          <a:solidFill>
            <a:srgbClr val="277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39"/>
            <a:ext cx="3172968" cy="29260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12233D"/>
                </a:solidFill>
                <a:latin typeface="Aptos"/>
              </a:defRPr>
            </a:pPr>
            <a:r>
              <a:t>1. Monitor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3172968" cy="79552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73445"/>
                </a:solidFill>
                <a:latin typeface="Aptos"/>
              </a:defRPr>
            </a:pPr>
            <a:r>
              <a:t>Bring revenue, expenses, net profit and margin into one executive 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1325880"/>
          </a:xfrm>
          <a:prstGeom prst="roundRect">
            <a:avLst/>
          </a:prstGeom>
          <a:solidFill>
            <a:srgbClr val="E2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325880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63039"/>
            <a:ext cx="3172968" cy="29260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12233D"/>
                </a:solidFill>
                <a:latin typeface="Aptos"/>
              </a:defRPr>
            </a:pPr>
            <a:r>
              <a:t>2. Control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01368"/>
            <a:ext cx="3172968" cy="79552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73445"/>
                </a:solidFill>
                <a:latin typeface="Aptos"/>
              </a:defRPr>
            </a:pPr>
            <a:r>
              <a:t>Compare planned budget with actual expenses and identify variance.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520440" cy="1325880"/>
          </a:xfrm>
          <a:prstGeom prst="roundRect">
            <a:avLst/>
          </a:prstGeom>
          <a:solidFill>
            <a:srgbClr val="F2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73152" cy="1325880"/>
          </a:xfrm>
          <a:prstGeom prst="rect">
            <a:avLst/>
          </a:prstGeom>
          <a:solidFill>
            <a:srgbClr val="7E4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9" y="1463039"/>
            <a:ext cx="3172968" cy="29260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12233D"/>
                </a:solidFill>
                <a:latin typeface="Aptos"/>
              </a:defRPr>
            </a:pPr>
            <a:r>
              <a:t>3. Explore profitability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1801368"/>
            <a:ext cx="3172968" cy="79552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150" b="0" i="0">
                <a:solidFill>
                  <a:srgbClr val="273445"/>
                </a:solidFill>
                <a:latin typeface="Aptos"/>
              </a:defRPr>
            </a:pPr>
            <a:r>
              <a:t>Drill into department/category drivers and test expense-reduction scenarios.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63240"/>
            <a:ext cx="5212080" cy="32004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12233D"/>
                </a:solidFill>
                <a:latin typeface="Aptos"/>
              </a:defRPr>
            </a:pPr>
            <a:r>
              <a:t>HOW THE REPORT SUPPORTS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48456"/>
            <a:ext cx="82296" cy="82296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3566160"/>
            <a:ext cx="5038344" cy="46177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73445"/>
                </a:solidFill>
                <a:latin typeface="Aptos"/>
              </a:defRPr>
            </a:pPr>
            <a:r>
              <a:t>Region, department and year slicers narrow the analysis.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28515"/>
            <a:ext cx="82296" cy="82296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4046220"/>
            <a:ext cx="5038344" cy="46177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73445"/>
                </a:solidFill>
                <a:latin typeface="Aptos"/>
              </a:defRPr>
            </a:pPr>
            <a:r>
              <a:t>KPI cards summarize financial performance.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608576"/>
            <a:ext cx="82296" cy="82296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526280"/>
            <a:ext cx="5038344" cy="46177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73445"/>
                </a:solidFill>
                <a:latin typeface="Aptos"/>
              </a:defRPr>
            </a:pPr>
            <a:r>
              <a:t>Trend charts show changes over 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088636"/>
            <a:ext cx="82296" cy="82296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5006340"/>
            <a:ext cx="5038344" cy="46177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273445"/>
                </a:solidFill>
                <a:latin typeface="Aptos"/>
              </a:defRPr>
            </a:pPr>
            <a:r>
              <a:t>Category, department and variance visuals help locate drivers.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108960"/>
            <a:ext cx="512064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3383280"/>
            <a:ext cx="457200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2233D"/>
                </a:solidFill>
                <a:latin typeface="Aptos"/>
              </a:defRPr>
            </a:pPr>
            <a:r>
              <a:t>CORE KPI SNAPSHOT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3840480"/>
            <a:ext cx="2103120" cy="594360"/>
          </a:xfrm>
          <a:prstGeom prst="round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3904488"/>
            <a:ext cx="1874519" cy="16459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637082"/>
                </a:solidFill>
                <a:latin typeface="Aptos"/>
              </a:defRPr>
            </a:pPr>
            <a:r>
              <a:t>Revenue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4096512"/>
            <a:ext cx="1874519" cy="25603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277DDA"/>
                </a:solidFill>
                <a:latin typeface="Aptos"/>
              </a:defRPr>
            </a:pPr>
            <a:r>
              <a:t>9.64M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3840480"/>
            <a:ext cx="2103120" cy="594360"/>
          </a:xfrm>
          <a:prstGeom prst="round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16567" y="3904488"/>
            <a:ext cx="1874519" cy="16459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637082"/>
                </a:solidFill>
                <a:latin typeface="Aptos"/>
              </a:defRPr>
            </a:pPr>
            <a:r>
              <a:t>Expenses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16567" y="4096512"/>
            <a:ext cx="1874519" cy="25603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EEB131"/>
                </a:solidFill>
                <a:latin typeface="Aptos"/>
              </a:defRPr>
            </a:pPr>
            <a:r>
              <a:t>6.93M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75120" y="4590288"/>
            <a:ext cx="2103120" cy="594360"/>
          </a:xfrm>
          <a:prstGeom prst="round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84848" y="4654296"/>
            <a:ext cx="1874519" cy="16459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637082"/>
                </a:solidFill>
                <a:latin typeface="Aptos"/>
              </a:defRPr>
            </a:pPr>
            <a:r>
              <a:t>Net Profit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4846320"/>
            <a:ext cx="1874519" cy="25603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2A895B"/>
                </a:solidFill>
                <a:latin typeface="Aptos"/>
              </a:defRPr>
            </a:pPr>
            <a:r>
              <a:t>2.71M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40" y="4590288"/>
            <a:ext cx="2103120" cy="594360"/>
          </a:xfrm>
          <a:prstGeom prst="round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16567" y="4654296"/>
            <a:ext cx="1874519" cy="16459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637082"/>
                </a:solidFill>
                <a:latin typeface="Aptos"/>
              </a:defRPr>
            </a:pPr>
            <a:r>
              <a:t>Margin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16567" y="4846320"/>
            <a:ext cx="1874519" cy="25603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700" b="1" i="0">
                <a:solidFill>
                  <a:srgbClr val="7E4DB0"/>
                </a:solidFill>
                <a:latin typeface="Aptos"/>
              </a:defRPr>
            </a:pPr>
            <a:r>
              <a:t>28.12%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126480"/>
            <a:ext cx="10972800" cy="20116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00" b="0" i="1">
                <a:solidFill>
                  <a:srgbClr val="637082"/>
                </a:solidFill>
                <a:latin typeface="Aptos"/>
              </a:defRPr>
            </a:pPr>
            <a:r>
              <a:t>Note: figures are taken from the screenshots; validate currency, reporting period and measure definitions in the source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3891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2233D"/>
                </a:solidFill>
                <a:latin typeface="Aptos"/>
              </a:defRPr>
            </a:pPr>
            <a:r>
              <a:t>Business Problems Identified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0664"/>
            <a:ext cx="1069848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637082"/>
                </a:solidFill>
                <a:latin typeface="Aptos"/>
              </a:defRPr>
            </a:pPr>
            <a:r>
              <a:t>The business questions this Power BI report is intended to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29184"/>
            <a:ext cx="640080" cy="20116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277DD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1508760"/>
            <a:ext cx="438912" cy="438912"/>
          </a:xfrm>
          <a:prstGeom prst="roundRect">
            <a:avLst/>
          </a:prstGeom>
          <a:solidFill>
            <a:srgbClr val="E7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00200"/>
            <a:ext cx="438912" cy="16459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277DD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453895"/>
            <a:ext cx="425196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20" b="1" i="0">
                <a:solidFill>
                  <a:srgbClr val="12233D"/>
                </a:solidFill>
                <a:latin typeface="Aptos"/>
              </a:defRPr>
            </a:pPr>
            <a:r>
              <a:t>01  COST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783080"/>
            <a:ext cx="4251960" cy="56692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73445"/>
                </a:solidFill>
                <a:latin typeface="Aptos"/>
              </a:defRPr>
            </a:pPr>
            <a:r>
              <a:t>Managers may not quickly see which expense categories account for the largest share.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2" y="1508760"/>
            <a:ext cx="438912" cy="438912"/>
          </a:xfrm>
          <a:prstGeom prst="roundRect">
            <a:avLst/>
          </a:prstGeom>
          <a:solidFill>
            <a:srgbClr val="FC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00200"/>
            <a:ext cx="438912" cy="16459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C4454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1453895"/>
            <a:ext cx="425196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20" b="1" i="0">
                <a:solidFill>
                  <a:srgbClr val="12233D"/>
                </a:solidFill>
                <a:latin typeface="Aptos"/>
              </a:defRPr>
            </a:pPr>
            <a:r>
              <a:t>02  BUDGET OVERRUN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1783080"/>
            <a:ext cx="4251960" cy="56692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73445"/>
                </a:solidFill>
                <a:latin typeface="Aptos"/>
              </a:defRPr>
            </a:pPr>
            <a:r>
              <a:t>It may be difficult to spot departments spending above their allocated budget.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807208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8952" y="2990088"/>
            <a:ext cx="438912" cy="438912"/>
          </a:xfrm>
          <a:prstGeom prst="roundRect">
            <a:avLst/>
          </a:prstGeom>
          <a:solidFill>
            <a:srgbClr val="FF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081528"/>
            <a:ext cx="438912" cy="16459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EEB131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2935224"/>
            <a:ext cx="425196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20" b="1" i="0">
                <a:solidFill>
                  <a:srgbClr val="12233D"/>
                </a:solidFill>
                <a:latin typeface="Aptos"/>
              </a:defRPr>
            </a:pPr>
            <a:r>
              <a:t>03  VARIANCE EXPLANATION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264408"/>
            <a:ext cx="4251960" cy="56692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73445"/>
                </a:solidFill>
                <a:latin typeface="Aptos"/>
              </a:defRPr>
            </a:pPr>
            <a:r>
              <a:t>A total variance alone does not explain which department drives the gap.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807208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28232" y="2990088"/>
            <a:ext cx="438912" cy="438912"/>
          </a:xfrm>
          <a:prstGeom prst="roundRect">
            <a:avLst/>
          </a:prstGeom>
          <a:solidFill>
            <a:srgbClr val="F2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081528"/>
            <a:ext cx="438912" cy="16459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7E4DB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935224"/>
            <a:ext cx="425196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20" b="1" i="0">
                <a:solidFill>
                  <a:srgbClr val="12233D"/>
                </a:solidFill>
                <a:latin typeface="Aptos"/>
              </a:defRPr>
            </a:pPr>
            <a:r>
              <a:t>04  PROFITABILITY DRIVERS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3264408"/>
            <a:ext cx="4251960" cy="56692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73445"/>
                </a:solidFill>
                <a:latin typeface="Aptos"/>
              </a:defRPr>
            </a:pPr>
            <a:r>
              <a:t>Revenue, expenses and profit need to be compared across departments/categories.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288536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58952" y="4471416"/>
            <a:ext cx="438912" cy="438912"/>
          </a:xfrm>
          <a:prstGeom prst="roundRect">
            <a:avLst/>
          </a:prstGeom>
          <a:solidFill>
            <a:srgbClr val="E2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4562856"/>
            <a:ext cx="438912" cy="16459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139D91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4416552"/>
            <a:ext cx="425196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20" b="1" i="0">
                <a:solidFill>
                  <a:srgbClr val="12233D"/>
                </a:solidFill>
                <a:latin typeface="Aptos"/>
              </a:defRPr>
            </a:pPr>
            <a:r>
              <a:t>05  TREND &amp; SCENARIO PLANNING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4745736"/>
            <a:ext cx="4251960" cy="56692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73445"/>
                </a:solidFill>
                <a:latin typeface="Aptos"/>
              </a:defRPr>
            </a:pPr>
            <a:r>
              <a:t>Monthly changes and potential savings need to be reviewed over time.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288536"/>
            <a:ext cx="53035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28232" y="4471416"/>
            <a:ext cx="438912" cy="438912"/>
          </a:xfrm>
          <a:prstGeom prst="roundRect">
            <a:avLst/>
          </a:prstGeom>
          <a:solidFill>
            <a:srgbClr val="E7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2" y="4562856"/>
            <a:ext cx="438912" cy="16459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ctr">
              <a:spcAft>
                <a:spcPts val="300"/>
              </a:spcAft>
              <a:defRPr sz="1100" b="1" i="0">
                <a:solidFill>
                  <a:srgbClr val="277DD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4416552"/>
            <a:ext cx="425196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20" b="1" i="0">
                <a:solidFill>
                  <a:srgbClr val="12233D"/>
                </a:solidFill>
                <a:latin typeface="Aptos"/>
              </a:defRPr>
            </a:pPr>
            <a:r>
              <a:t>06  FILTERED DECISION-MAKING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4745736"/>
            <a:ext cx="4251960" cy="56692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73445"/>
                </a:solidFill>
                <a:latin typeface="Aptos"/>
              </a:defRPr>
            </a:pPr>
            <a:r>
              <a:t>Users need to focus on a region, year or department without rebuilding reports.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00" b="0" i="1">
                <a:solidFill>
                  <a:srgbClr val="637082"/>
                </a:solidFill>
                <a:latin typeface="Aptos"/>
              </a:defRPr>
            </a:pPr>
            <a:r>
              <a:t>These are business problems the report is designed to address; the screenshots do not prove that a specific incident occurred.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3891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2233D"/>
                </a:solidFill>
                <a:latin typeface="Aptos"/>
              </a:defRPr>
            </a:pPr>
            <a:r>
              <a:t>Problem → Insight → Business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0664"/>
            <a:ext cx="1069848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637082"/>
                </a:solidFill>
                <a:latin typeface="Aptos"/>
              </a:defRPr>
            </a:pPr>
            <a:r>
              <a:t>How the dashboard visuals translate into practical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29184"/>
            <a:ext cx="640080" cy="20116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277DD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743200" cy="411480"/>
          </a:xfrm>
          <a:prstGeom prst="round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25880"/>
            <a:ext cx="2523744" cy="18288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234440"/>
            <a:ext cx="3657600" cy="411480"/>
          </a:xfrm>
          <a:prstGeom prst="round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67328" y="1325880"/>
            <a:ext cx="3438144" cy="18288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INSIGHT FROM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234440"/>
            <a:ext cx="3840480" cy="411480"/>
          </a:xfrm>
          <a:prstGeom prst="roundRect">
            <a:avLst/>
          </a:prstGeom>
          <a:solidFill>
            <a:srgbClr val="1B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325880"/>
            <a:ext cx="3621024" cy="18288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ACTION / 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64792"/>
            <a:ext cx="2743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1764792"/>
            <a:ext cx="36576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0" y="1764792"/>
            <a:ext cx="38404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1764792"/>
            <a:ext cx="54864" cy="658368"/>
          </a:xfrm>
          <a:prstGeom prst="rect">
            <a:avLst/>
          </a:prstGeom>
          <a:solidFill>
            <a:srgbClr val="277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1837943"/>
            <a:ext cx="2487168" cy="5029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70" b="1" i="0">
                <a:solidFill>
                  <a:srgbClr val="12233D"/>
                </a:solidFill>
                <a:latin typeface="Aptos"/>
              </a:defRPr>
            </a:pPr>
            <a:r>
              <a:t>Expense mix is unclear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1828800"/>
            <a:ext cx="3429000" cy="539496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69" b="0" i="0">
                <a:solidFill>
                  <a:srgbClr val="273445"/>
                </a:solidFill>
                <a:latin typeface="Aptos"/>
              </a:defRPr>
            </a:pPr>
            <a:r>
              <a:t>Treemap shows category-level expense contribution; large blocks identify categories to investigate.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1828800"/>
            <a:ext cx="3611880" cy="539496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69" b="0" i="0">
                <a:solidFill>
                  <a:srgbClr val="273445"/>
                </a:solidFill>
                <a:latin typeface="Aptos"/>
              </a:defRPr>
            </a:pPr>
            <a:r>
              <a:t>Prioritize the largest controllable categories and validate the reason for high spend.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569464"/>
            <a:ext cx="2743200" cy="658368"/>
          </a:xfrm>
          <a:prstGeom prst="round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0" y="2569464"/>
            <a:ext cx="3657600" cy="658368"/>
          </a:xfrm>
          <a:prstGeom prst="round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9520" y="2569464"/>
            <a:ext cx="3840480" cy="658368"/>
          </a:xfrm>
          <a:prstGeom prst="round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2569464"/>
            <a:ext cx="54864" cy="658368"/>
          </a:xfrm>
          <a:prstGeom prst="rect">
            <a:avLst/>
          </a:prstGeom>
          <a:solidFill>
            <a:srgbClr val="C44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2642616"/>
            <a:ext cx="2487168" cy="5029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70" b="1" i="0">
                <a:solidFill>
                  <a:srgbClr val="12233D"/>
                </a:solidFill>
                <a:latin typeface="Aptos"/>
              </a:defRPr>
            </a:pPr>
            <a:r>
              <a:t>Budget overrun may go unnoticed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67328" y="2633472"/>
            <a:ext cx="3429000" cy="539496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69" b="0" i="0">
                <a:solidFill>
                  <a:srgbClr val="273445"/>
                </a:solidFill>
                <a:latin typeface="Aptos"/>
              </a:defRPr>
            </a:pPr>
            <a:r>
              <a:t>Budget variance chart and table show department variance, status and utilization.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2633472"/>
            <a:ext cx="3611880" cy="539496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69" b="0" i="0">
                <a:solidFill>
                  <a:srgbClr val="273445"/>
                </a:solidFill>
                <a:latin typeface="Aptos"/>
              </a:defRPr>
            </a:pPr>
            <a:r>
              <a:t>Review departments flagged Over Budget, confirm causes and assign owners.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374136"/>
            <a:ext cx="2743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57600" y="3374136"/>
            <a:ext cx="36576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89520" y="3374136"/>
            <a:ext cx="38404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374136"/>
            <a:ext cx="54864" cy="658368"/>
          </a:xfrm>
          <a:prstGeom prst="rect">
            <a:avLst/>
          </a:prstGeom>
          <a:solidFill>
            <a:srgbClr val="7E4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447288"/>
            <a:ext cx="2487168" cy="5029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70" b="1" i="0">
                <a:solidFill>
                  <a:srgbClr val="12233D"/>
                </a:solidFill>
                <a:latin typeface="Aptos"/>
              </a:defRPr>
            </a:pPr>
            <a:r>
              <a:t>Profit drivers are hard to locate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7328" y="3438144"/>
            <a:ext cx="3429000" cy="539496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69" b="0" i="0">
                <a:solidFill>
                  <a:srgbClr val="273445"/>
                </a:solidFill>
                <a:latin typeface="Aptos"/>
              </a:defRPr>
            </a:pPr>
            <a:r>
              <a:t>Revenue by department and decomposition tree help explore department/category contribution.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3438144"/>
            <a:ext cx="3611880" cy="539496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69" b="0" i="0">
                <a:solidFill>
                  <a:srgbClr val="273445"/>
                </a:solidFill>
                <a:latin typeface="Aptos"/>
              </a:defRPr>
            </a:pPr>
            <a:r>
              <a:t>Investigate low or negative contribution areas before changing budgets.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178808"/>
            <a:ext cx="2743200" cy="658368"/>
          </a:xfrm>
          <a:prstGeom prst="round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57600" y="4178808"/>
            <a:ext cx="3657600" cy="658368"/>
          </a:xfrm>
          <a:prstGeom prst="round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589520" y="4178808"/>
            <a:ext cx="3840480" cy="658368"/>
          </a:xfrm>
          <a:prstGeom prst="roundRect">
            <a:avLst/>
          </a:prstGeom>
          <a:solidFill>
            <a:srgbClr val="EF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178808"/>
            <a:ext cx="54864" cy="658368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4251960"/>
            <a:ext cx="2487168" cy="5029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70" b="1" i="0">
                <a:solidFill>
                  <a:srgbClr val="12233D"/>
                </a:solidFill>
                <a:latin typeface="Aptos"/>
              </a:defRPr>
            </a:pPr>
            <a:r>
              <a:t>Performance changes are missed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67328" y="4242816"/>
            <a:ext cx="3429000" cy="539496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69" b="0" i="0">
                <a:solidFill>
                  <a:srgbClr val="273445"/>
                </a:solidFill>
                <a:latin typeface="Aptos"/>
              </a:defRPr>
            </a:pPr>
            <a:r>
              <a:t>Revenue and profit-margin trend visuals show movements over time.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9248" y="4242816"/>
            <a:ext cx="3611880" cy="539496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69" b="0" i="0">
                <a:solidFill>
                  <a:srgbClr val="273445"/>
                </a:solidFill>
                <a:latin typeface="Aptos"/>
              </a:defRPr>
            </a:pPr>
            <a:r>
              <a:t>Review monthly trends and investigate unusual spikes or dips.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983480"/>
            <a:ext cx="27432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657600" y="4983480"/>
            <a:ext cx="365760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89520" y="4983480"/>
            <a:ext cx="384048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4983480"/>
            <a:ext cx="54864" cy="658368"/>
          </a:xfrm>
          <a:prstGeom prst="rect">
            <a:avLst/>
          </a:prstGeom>
          <a:solidFill>
            <a:srgbClr val="EEB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056632"/>
            <a:ext cx="2487168" cy="5029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70" b="1" i="0">
                <a:solidFill>
                  <a:srgbClr val="12233D"/>
                </a:solidFill>
                <a:latin typeface="Aptos"/>
              </a:defRPr>
            </a:pPr>
            <a:r>
              <a:t>Savings impact is uncertain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67328" y="5047488"/>
            <a:ext cx="3429000" cy="539496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69" b="0" i="0">
                <a:solidFill>
                  <a:srgbClr val="273445"/>
                </a:solidFill>
                <a:latin typeface="Aptos"/>
              </a:defRPr>
            </a:pPr>
            <a:r>
              <a:t>Expense Reduction % input and Projected Profit card model a what-if scenario.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5047488"/>
            <a:ext cx="3611880" cy="539496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69" b="0" i="0">
                <a:solidFill>
                  <a:srgbClr val="273445"/>
                </a:solidFill>
                <a:latin typeface="Aptos"/>
              </a:defRPr>
            </a:pPr>
            <a:r>
              <a:t>Compare multiple reduction assumptions; treat outputs as estimates, not guarantees.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989320"/>
            <a:ext cx="10881360" cy="22860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139D91"/>
                </a:solidFill>
                <a:latin typeface="Aptos"/>
              </a:defRPr>
            </a:pPr>
            <a:r>
              <a:t>This mapping is the main business story: each visual answers a question and supports a next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3891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2233D"/>
                </a:solidFill>
                <a:latin typeface="Aptos"/>
              </a:defRPr>
            </a:pPr>
            <a:r>
              <a:t>Page 1 | Financial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0664"/>
            <a:ext cx="1069848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637082"/>
                </a:solidFill>
                <a:latin typeface="Aptos"/>
              </a:defRPr>
            </a:pPr>
            <a:r>
              <a:t>Business question: Are we generating profit, and which departments contribute most?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29184"/>
            <a:ext cx="640080" cy="20116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277DDA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5" name="Picture 4" descr="Screenshot 2026-10-21 0224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27321"/>
            <a:ext cx="7360920" cy="4140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427321"/>
            <a:ext cx="7360920" cy="4140517"/>
          </a:xfrm>
          <a:prstGeom prst="rect">
            <a:avLst/>
          </a:prstGeom>
          <a:noFill/>
          <a:ln w="10160">
            <a:solidFill>
              <a:srgbClr val="CD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0" y="1280160"/>
            <a:ext cx="352044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536192"/>
            <a:ext cx="2971800" cy="29260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2233D"/>
                </a:solidFill>
                <a:latin typeface="Aptos"/>
              </a:defRPr>
            </a:pPr>
            <a:r>
              <a:t>INSIGHT &amp;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965960"/>
            <a:ext cx="2926080" cy="22860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277DDA"/>
                </a:solidFill>
                <a:latin typeface="Aptos"/>
              </a:defRPr>
            </a:pPr>
            <a:r>
              <a:t>Observed KPI values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94192" y="2350008"/>
            <a:ext cx="82296" cy="82296"/>
          </a:xfrm>
          <a:prstGeom prst="rect">
            <a:avLst/>
          </a:prstGeom>
          <a:solidFill>
            <a:srgbClr val="277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2267712"/>
            <a:ext cx="2706624" cy="301751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73445"/>
                </a:solidFill>
                <a:latin typeface="Aptos"/>
              </a:defRPr>
            </a:pPr>
            <a:r>
              <a:t>Revenue: 9.64M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94192" y="2670048"/>
            <a:ext cx="82296" cy="82296"/>
          </a:xfrm>
          <a:prstGeom prst="rect">
            <a:avLst/>
          </a:prstGeom>
          <a:solidFill>
            <a:srgbClr val="277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67928" y="2587752"/>
            <a:ext cx="2706624" cy="301751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73445"/>
                </a:solidFill>
                <a:latin typeface="Aptos"/>
              </a:defRPr>
            </a:pPr>
            <a:r>
              <a:t>Expenses: 6.93M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94192" y="2990087"/>
            <a:ext cx="82296" cy="82296"/>
          </a:xfrm>
          <a:prstGeom prst="rect">
            <a:avLst/>
          </a:prstGeom>
          <a:solidFill>
            <a:srgbClr val="277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7928" y="2907791"/>
            <a:ext cx="2706624" cy="301751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73445"/>
                </a:solidFill>
                <a:latin typeface="Aptos"/>
              </a:defRPr>
            </a:pPr>
            <a:r>
              <a:t>Net profit: 2.71M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94192" y="3310127"/>
            <a:ext cx="82296" cy="82296"/>
          </a:xfrm>
          <a:prstGeom prst="rect">
            <a:avLst/>
          </a:prstGeom>
          <a:solidFill>
            <a:srgbClr val="277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3227832"/>
            <a:ext cx="2706624" cy="301751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73445"/>
                </a:solidFill>
                <a:latin typeface="Aptos"/>
              </a:defRPr>
            </a:pPr>
            <a:r>
              <a:t>Profit margin: 28.12%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657600"/>
            <a:ext cx="2926080" cy="22860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139D91"/>
                </a:solidFill>
                <a:latin typeface="Aptos"/>
              </a:defRPr>
            </a:pPr>
            <a:r>
              <a:t>How it helps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94192" y="4032504"/>
            <a:ext cx="82296" cy="82296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7928" y="3950208"/>
            <a:ext cx="2706624" cy="45415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40" b="0" i="0">
                <a:solidFill>
                  <a:srgbClr val="273445"/>
                </a:solidFill>
                <a:latin typeface="Aptos"/>
              </a:defRPr>
            </a:pPr>
            <a:r>
              <a:t>Compare revenue with expenses at a glance.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94192" y="4504944"/>
            <a:ext cx="82296" cy="82296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67928" y="4422648"/>
            <a:ext cx="2706624" cy="45415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40" b="0" i="0">
                <a:solidFill>
                  <a:srgbClr val="273445"/>
                </a:solidFill>
                <a:latin typeface="Aptos"/>
              </a:defRPr>
            </a:pPr>
            <a:r>
              <a:t>Use department revenue chart to identify major contributors.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94192" y="4977384"/>
            <a:ext cx="82296" cy="82296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67928" y="4895088"/>
            <a:ext cx="2706624" cy="45415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40" b="0" i="0">
                <a:solidFill>
                  <a:srgbClr val="273445"/>
                </a:solidFill>
                <a:latin typeface="Aptos"/>
              </a:defRPr>
            </a:pPr>
            <a:r>
              <a:t>Use region/year filters to test whether the pattern changes.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016752"/>
            <a:ext cx="10972800" cy="20116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00" b="0" i="1">
                <a:solidFill>
                  <a:srgbClr val="637082"/>
                </a:solidFill>
                <a:latin typeface="Aptos"/>
              </a:defRPr>
            </a:pPr>
            <a:r>
              <a:t>Caution: confirm that the KPI cards and department chart respond to slicers as expected.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3891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2233D"/>
                </a:solidFill>
                <a:latin typeface="Aptos"/>
              </a:defRPr>
            </a:pPr>
            <a:r>
              <a:t>Page 2 | Budget &amp; Cost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0664"/>
            <a:ext cx="1069848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637082"/>
                </a:solidFill>
                <a:latin typeface="Aptos"/>
              </a:defRPr>
            </a:pPr>
            <a:r>
              <a:t>Business question: Are we staying within budget, and where should we investigate?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29184"/>
            <a:ext cx="640080" cy="20116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277DDA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5" name="Picture 4" descr="Screenshot 2026-10-21 0224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27321"/>
            <a:ext cx="7360920" cy="4140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427321"/>
            <a:ext cx="7360920" cy="4140517"/>
          </a:xfrm>
          <a:prstGeom prst="rect">
            <a:avLst/>
          </a:prstGeom>
          <a:noFill/>
          <a:ln w="10160">
            <a:solidFill>
              <a:srgbClr val="CD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0" y="1280160"/>
            <a:ext cx="352044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536192"/>
            <a:ext cx="2971800" cy="29260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2233D"/>
                </a:solidFill>
                <a:latin typeface="Aptos"/>
              </a:defRPr>
            </a:pPr>
            <a:r>
              <a:t>INSIGHT &amp;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965960"/>
            <a:ext cx="2926080" cy="22860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277DDA"/>
                </a:solidFill>
                <a:latin typeface="Aptos"/>
              </a:defRPr>
            </a:pPr>
            <a:r>
              <a:t>Observed KPI values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94192" y="2350008"/>
            <a:ext cx="82296" cy="82296"/>
          </a:xfrm>
          <a:prstGeom prst="rect">
            <a:avLst/>
          </a:prstGeom>
          <a:solidFill>
            <a:srgbClr val="277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2267712"/>
            <a:ext cx="2706624" cy="31318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73445"/>
                </a:solidFill>
                <a:latin typeface="Aptos"/>
              </a:defRPr>
            </a:pPr>
            <a:r>
              <a:t>Total budget: 16.59M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94192" y="2681477"/>
            <a:ext cx="82296" cy="82296"/>
          </a:xfrm>
          <a:prstGeom prst="rect">
            <a:avLst/>
          </a:prstGeom>
          <a:solidFill>
            <a:srgbClr val="277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67928" y="2599182"/>
            <a:ext cx="2706624" cy="31318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73445"/>
                </a:solidFill>
                <a:latin typeface="Aptos"/>
              </a:defRPr>
            </a:pPr>
            <a:r>
              <a:t>Actual expenses: 6.93M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94192" y="3012948"/>
            <a:ext cx="82296" cy="82296"/>
          </a:xfrm>
          <a:prstGeom prst="rect">
            <a:avLst/>
          </a:prstGeom>
          <a:solidFill>
            <a:srgbClr val="277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7928" y="2930652"/>
            <a:ext cx="2706624" cy="31318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73445"/>
                </a:solidFill>
                <a:latin typeface="Aptos"/>
              </a:defRPr>
            </a:pPr>
            <a:r>
              <a:t>Budget utilization: 41.75%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94192" y="3344418"/>
            <a:ext cx="82296" cy="82296"/>
          </a:xfrm>
          <a:prstGeom prst="rect">
            <a:avLst/>
          </a:prstGeom>
          <a:solidFill>
            <a:srgbClr val="277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3262122"/>
            <a:ext cx="2706624" cy="31318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273445"/>
                </a:solidFill>
                <a:latin typeface="Aptos"/>
              </a:defRPr>
            </a:pPr>
            <a:r>
              <a:t>Displayed variance: 9.66M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703320"/>
            <a:ext cx="2926080" cy="22860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139D91"/>
                </a:solidFill>
                <a:latin typeface="Aptos"/>
              </a:defRPr>
            </a:pPr>
            <a:r>
              <a:t>How it helps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94192" y="4069080"/>
            <a:ext cx="82296" cy="82296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7928" y="3986784"/>
            <a:ext cx="2706624" cy="432816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19" b="0" i="0">
                <a:solidFill>
                  <a:srgbClr val="273445"/>
                </a:solidFill>
                <a:latin typeface="Aptos"/>
              </a:defRPr>
            </a:pPr>
            <a:r>
              <a:t>Use variance chart to locate positive/negative gaps.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94192" y="4520184"/>
            <a:ext cx="82296" cy="82296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67928" y="4437888"/>
            <a:ext cx="2706624" cy="432816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19" b="0" i="0">
                <a:solidFill>
                  <a:srgbClr val="273445"/>
                </a:solidFill>
                <a:latin typeface="Aptos"/>
              </a:defRPr>
            </a:pPr>
            <a:r>
              <a:t>Check the table's Over Budget status and utilization above 100%.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94192" y="4971288"/>
            <a:ext cx="82296" cy="82296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67928" y="4888992"/>
            <a:ext cx="2706624" cy="432816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19" b="0" i="0">
                <a:solidFill>
                  <a:srgbClr val="273445"/>
                </a:solidFill>
                <a:latin typeface="Aptos"/>
              </a:defRPr>
            </a:pPr>
            <a:r>
              <a:t>Investigate causes before reallocating funds.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016752"/>
            <a:ext cx="10972800" cy="20116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00" b="0" i="1">
                <a:solidFill>
                  <a:srgbClr val="C4454C"/>
                </a:solidFill>
                <a:latin typeface="Aptos"/>
              </a:defRPr>
            </a:pPr>
            <a:r>
              <a:t>Important: confirm the variance sign convention in DAX. A positive number is not automatically favourable.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3891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2233D"/>
                </a:solidFill>
                <a:latin typeface="Aptos"/>
              </a:defRPr>
            </a:pPr>
            <a:r>
              <a:t>Page 3 | Profitability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0664"/>
            <a:ext cx="1069848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637082"/>
                </a:solidFill>
                <a:latin typeface="Aptos"/>
              </a:defRPr>
            </a:pPr>
            <a:r>
              <a:t>Business question: What drives profit, and what could happen if expenses are reduced?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29184"/>
            <a:ext cx="640080" cy="20116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277DDA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5" name="Picture 4" descr="Screenshot 2026-10-21 0225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27321"/>
            <a:ext cx="7360920" cy="41405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427321"/>
            <a:ext cx="7360920" cy="4140517"/>
          </a:xfrm>
          <a:prstGeom prst="rect">
            <a:avLst/>
          </a:prstGeom>
          <a:noFill/>
          <a:ln w="10160">
            <a:solidFill>
              <a:srgbClr val="CDD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0" y="1280160"/>
            <a:ext cx="352044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536192"/>
            <a:ext cx="2971800" cy="29260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2233D"/>
                </a:solidFill>
                <a:latin typeface="Aptos"/>
              </a:defRPr>
            </a:pPr>
            <a:r>
              <a:t>INSIGHT &amp;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965960"/>
            <a:ext cx="2926080" cy="22860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277DDA"/>
                </a:solidFill>
                <a:latin typeface="Aptos"/>
              </a:defRPr>
            </a:pPr>
            <a:r>
              <a:t>Scenario shown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94192" y="2350008"/>
            <a:ext cx="82296" cy="82296"/>
          </a:xfrm>
          <a:prstGeom prst="rect">
            <a:avLst/>
          </a:prstGeom>
          <a:solidFill>
            <a:srgbClr val="277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67928" y="2267712"/>
            <a:ext cx="2706624" cy="48463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73445"/>
                </a:solidFill>
                <a:latin typeface="Aptos"/>
              </a:defRPr>
            </a:pPr>
            <a:r>
              <a:t>Expense reduction input: 2.00%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94192" y="2852928"/>
            <a:ext cx="82296" cy="82296"/>
          </a:xfrm>
          <a:prstGeom prst="rect">
            <a:avLst/>
          </a:prstGeom>
          <a:solidFill>
            <a:srgbClr val="277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67928" y="2770632"/>
            <a:ext cx="2706624" cy="48463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80" b="0" i="0">
                <a:solidFill>
                  <a:srgbClr val="273445"/>
                </a:solidFill>
                <a:latin typeface="Aptos"/>
              </a:defRPr>
            </a:pPr>
            <a:r>
              <a:t>Projected profit: 2.85M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429000"/>
            <a:ext cx="2926080" cy="22860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139D91"/>
                </a:solidFill>
                <a:latin typeface="Aptos"/>
              </a:defRPr>
            </a:pPr>
            <a:r>
              <a:t>How it helps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94192" y="3813048"/>
            <a:ext cx="82296" cy="82296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3730752"/>
            <a:ext cx="2706624" cy="50596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40" b="0" i="0">
                <a:solidFill>
                  <a:srgbClr val="273445"/>
                </a:solidFill>
                <a:latin typeface="Aptos"/>
              </a:defRPr>
            </a:pPr>
            <a:r>
              <a:t>Decomposition tree helps drill into department/category contribution.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94192" y="4337304"/>
            <a:ext cx="82296" cy="82296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4255008"/>
            <a:ext cx="2706624" cy="50596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40" b="0" i="0">
                <a:solidFill>
                  <a:srgbClr val="273445"/>
                </a:solidFill>
                <a:latin typeface="Aptos"/>
              </a:defRPr>
            </a:pPr>
            <a:r>
              <a:t>Trend charts help identify unusual changes.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94192" y="4861560"/>
            <a:ext cx="82296" cy="82296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7928" y="4779264"/>
            <a:ext cx="2706624" cy="50596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40" b="0" i="0">
                <a:solidFill>
                  <a:srgbClr val="273445"/>
                </a:solidFill>
                <a:latin typeface="Aptos"/>
              </a:defRPr>
            </a:pPr>
            <a:r>
              <a:t>Test several reduction percentages and compare projected outcomes.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016752"/>
            <a:ext cx="10972800" cy="20116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900" b="0" i="1">
                <a:solidFill>
                  <a:srgbClr val="637082"/>
                </a:solidFill>
                <a:latin typeface="Aptos"/>
              </a:defRPr>
            </a:pPr>
            <a:r>
              <a:t>Scenario output is model-dependent; validate the projected-profit measure and the date grain of trend charts.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89920" cy="43891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12233D"/>
                </a:solidFill>
                <a:latin typeface="Aptos"/>
              </a:defRPr>
            </a:pPr>
            <a:r>
              <a:t>Recommended Business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0664"/>
            <a:ext cx="1069848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50" b="0" i="0">
                <a:solidFill>
                  <a:srgbClr val="637082"/>
                </a:solidFill>
                <a:latin typeface="Aptos"/>
              </a:defRPr>
            </a:pPr>
            <a:r>
              <a:t>Recommended next steps linked directly to the dashboard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29184"/>
            <a:ext cx="640080" cy="20116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277DD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9270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44751"/>
            <a:ext cx="402336" cy="402336"/>
          </a:xfrm>
          <a:prstGeom prst="roundRect">
            <a:avLst/>
          </a:prstGeom>
          <a:solidFill>
            <a:srgbClr val="FCE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8" y="1380744"/>
            <a:ext cx="233172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30" b="1" i="0">
                <a:solidFill>
                  <a:srgbClr val="C4454C"/>
                </a:solidFill>
                <a:latin typeface="Aptos"/>
              </a:defRPr>
            </a:pPr>
            <a:r>
              <a:t>1. Control overspending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353312"/>
            <a:ext cx="5806440" cy="53035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40" b="0" i="0">
                <a:solidFill>
                  <a:srgbClr val="273445"/>
                </a:solidFill>
                <a:latin typeface="Aptos"/>
              </a:defRPr>
            </a:pPr>
            <a:r>
              <a:t>Monthly: review departments marked Over Budget or with utilization above 100%.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1408176"/>
            <a:ext cx="1691640" cy="43891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r">
              <a:spcAft>
                <a:spcPts val="300"/>
              </a:spcAft>
              <a:defRPr sz="940" b="1" i="0">
                <a:solidFill>
                  <a:srgbClr val="637082"/>
                </a:solidFill>
                <a:latin typeface="Aptos"/>
              </a:defRPr>
            </a:pPr>
            <a:r>
              <a:t>Budget owner + Finance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12848"/>
            <a:ext cx="109270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377440"/>
            <a:ext cx="402336" cy="402336"/>
          </a:xfrm>
          <a:prstGeom prst="roundRect">
            <a:avLst/>
          </a:prstGeom>
          <a:solidFill>
            <a:srgbClr val="FFF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89888" y="2313432"/>
            <a:ext cx="233172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30" b="1" i="0">
                <a:solidFill>
                  <a:srgbClr val="EEB131"/>
                </a:solidFill>
                <a:latin typeface="Aptos"/>
              </a:defRPr>
            </a:pPr>
            <a:r>
              <a:t>2. Reduce avoidable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86000"/>
            <a:ext cx="5806440" cy="53035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40" b="0" i="0">
                <a:solidFill>
                  <a:srgbClr val="273445"/>
                </a:solidFill>
                <a:latin typeface="Aptos"/>
              </a:defRPr>
            </a:pPr>
            <a:r>
              <a:t>Rank expense categories by value, then validate business necessity and supplier/process drivers.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2340864"/>
            <a:ext cx="1691640" cy="43891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r">
              <a:spcAft>
                <a:spcPts val="300"/>
              </a:spcAft>
              <a:defRPr sz="940" b="1" i="0">
                <a:solidFill>
                  <a:srgbClr val="637082"/>
                </a:solidFill>
                <a:latin typeface="Aptos"/>
              </a:defRPr>
            </a:pPr>
            <a:r>
              <a:t>Department leads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45536"/>
            <a:ext cx="109270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310128"/>
            <a:ext cx="402336" cy="402336"/>
          </a:xfrm>
          <a:prstGeom prst="roundRect">
            <a:avLst/>
          </a:prstGeom>
          <a:solidFill>
            <a:srgbClr val="F2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3246120"/>
            <a:ext cx="233172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30" b="1" i="0">
                <a:solidFill>
                  <a:srgbClr val="7E4DB0"/>
                </a:solidFill>
                <a:latin typeface="Aptos"/>
              </a:defRPr>
            </a:pPr>
            <a:r>
              <a:t>3. Protect profit contribution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218688"/>
            <a:ext cx="5806440" cy="53035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40" b="0" i="0">
                <a:solidFill>
                  <a:srgbClr val="273445"/>
                </a:solidFill>
                <a:latin typeface="Aptos"/>
              </a:defRPr>
            </a:pPr>
            <a:r>
              <a:t>Review department/category contribution and investigate persistent weak or negative results.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3273552"/>
            <a:ext cx="1691640" cy="43891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r">
              <a:spcAft>
                <a:spcPts val="300"/>
              </a:spcAft>
              <a:defRPr sz="940" b="1" i="0">
                <a:solidFill>
                  <a:srgbClr val="637082"/>
                </a:solidFill>
                <a:latin typeface="Aptos"/>
              </a:defRPr>
            </a:pPr>
            <a:r>
              <a:t>Finance + Operations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78224"/>
            <a:ext cx="109270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4242816"/>
            <a:ext cx="402336" cy="402336"/>
          </a:xfrm>
          <a:prstGeom prst="roundRect">
            <a:avLst/>
          </a:prstGeom>
          <a:solidFill>
            <a:srgbClr val="E7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9888" y="4178808"/>
            <a:ext cx="233172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30" b="1" i="0">
                <a:solidFill>
                  <a:srgbClr val="277DDA"/>
                </a:solidFill>
                <a:latin typeface="Aptos"/>
              </a:defRPr>
            </a:pPr>
            <a:r>
              <a:t>4. Track trends consistently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151376"/>
            <a:ext cx="5806440" cy="53035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40" b="0" i="0">
                <a:solidFill>
                  <a:srgbClr val="273445"/>
                </a:solidFill>
                <a:latin typeface="Aptos"/>
              </a:defRPr>
            </a:pPr>
            <a:r>
              <a:t>Compare monthly revenue, expenses and margin using a consistent date grain.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20" y="4206240"/>
            <a:ext cx="1691640" cy="43891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r">
              <a:spcAft>
                <a:spcPts val="300"/>
              </a:spcAft>
              <a:defRPr sz="940" b="1" i="0">
                <a:solidFill>
                  <a:srgbClr val="637082"/>
                </a:solidFill>
                <a:latin typeface="Aptos"/>
              </a:defRPr>
            </a:pPr>
            <a:r>
              <a:t>Finance analyst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010912"/>
            <a:ext cx="1092708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5175504"/>
            <a:ext cx="402336" cy="402336"/>
          </a:xfrm>
          <a:prstGeom prst="roundRect">
            <a:avLst/>
          </a:prstGeom>
          <a:solidFill>
            <a:srgbClr val="E2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89888" y="5111496"/>
            <a:ext cx="233172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30" b="1" i="0">
                <a:solidFill>
                  <a:srgbClr val="139D91"/>
                </a:solidFill>
                <a:latin typeface="Aptos"/>
              </a:defRPr>
            </a:pPr>
            <a:r>
              <a:t>5. Use scenario planning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5084064"/>
            <a:ext cx="5806440" cy="53035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40" b="0" i="0">
                <a:solidFill>
                  <a:srgbClr val="273445"/>
                </a:solidFill>
                <a:latin typeface="Aptos"/>
              </a:defRPr>
            </a:pPr>
            <a:r>
              <a:t>Compare 2%, 5% and 10% reduction scenarios after validating the model assumptions.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5138928"/>
            <a:ext cx="1691640" cy="43891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r">
              <a:spcAft>
                <a:spcPts val="300"/>
              </a:spcAft>
              <a:defRPr sz="940" b="1" i="0">
                <a:solidFill>
                  <a:srgbClr val="637082"/>
                </a:solidFill>
                <a:latin typeface="Aptos"/>
              </a:defRPr>
            </a:pPr>
            <a:r>
              <a:t>Finance manager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144768"/>
            <a:ext cx="10789920" cy="20116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139D91"/>
                </a:solidFill>
                <a:latin typeface="Aptos"/>
              </a:defRPr>
            </a:pPr>
            <a:r>
              <a:t>Suggested management rhythm: monitor → investigate → assign an owner → track action → review next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45720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2700" b="1" i="0">
                <a:solidFill>
                  <a:srgbClr val="FFFFFF"/>
                </a:solidFill>
                <a:latin typeface="Aptos"/>
              </a:defRPr>
            </a:pPr>
            <a:r>
              <a:t>Conclusion: From Reporting to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07040" cy="32004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400" b="0" i="0">
                <a:solidFill>
                  <a:srgbClr val="C1D7ED"/>
                </a:solidFill>
                <a:latin typeface="Aptos"/>
              </a:defRPr>
            </a:pPr>
            <a:r>
              <a:t>The dashboard connects financial performance with practical budget-control questions.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12080" cy="3429000"/>
          </a:xfrm>
          <a:prstGeom prst="roundRect">
            <a:avLst/>
          </a:prstGeom>
          <a:solidFill>
            <a:srgbClr val="1A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139D91"/>
                </a:solidFill>
                <a:latin typeface="Aptos"/>
              </a:defRPr>
            </a:pPr>
            <a:r>
              <a:t>WHAT THE REPORT REVEALS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2551176"/>
            <a:ext cx="82296" cy="82296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25295" y="2468880"/>
            <a:ext cx="4352544" cy="54178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FFFFFF"/>
                </a:solidFill>
                <a:latin typeface="Aptos"/>
              </a:defRPr>
            </a:pPr>
            <a:r>
              <a:t>Revenue, expenses, profit and margin are visible together.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3111246"/>
            <a:ext cx="82296" cy="82296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5" y="3028950"/>
            <a:ext cx="4352544" cy="54178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FFFFFF"/>
                </a:solidFill>
                <a:latin typeface="Aptos"/>
              </a:defRPr>
            </a:pPr>
            <a:r>
              <a:t>Department/category visuals help locate areas to investigate.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3671316"/>
            <a:ext cx="82296" cy="82296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25295" y="3589020"/>
            <a:ext cx="4352544" cy="54178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FFFFFF"/>
                </a:solidFill>
                <a:latin typeface="Aptos"/>
              </a:defRPr>
            </a:pPr>
            <a:r>
              <a:t>Budget variance and utilization support spending control.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4231386"/>
            <a:ext cx="82296" cy="82296"/>
          </a:xfrm>
          <a:prstGeom prst="rect">
            <a:avLst/>
          </a:prstGeom>
          <a:solidFill>
            <a:srgbClr val="139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5295" y="4149090"/>
            <a:ext cx="4352544" cy="54178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FFFFFF"/>
                </a:solidFill>
                <a:latin typeface="Aptos"/>
              </a:defRPr>
            </a:pPr>
            <a:r>
              <a:t>Scenario inputs support what-if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5212080" cy="3429000"/>
          </a:xfrm>
          <a:prstGeom prst="roundRect">
            <a:avLst/>
          </a:prstGeom>
          <a:solidFill>
            <a:srgbClr val="1A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572000" cy="27432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EEB131"/>
                </a:solidFill>
                <a:latin typeface="Aptos"/>
              </a:defRPr>
            </a:pPr>
            <a:r>
              <a:t>VALIDATION BEFORE FINAL PRESENTATION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551176"/>
            <a:ext cx="82296" cy="82296"/>
          </a:xfrm>
          <a:prstGeom prst="rect">
            <a:avLst/>
          </a:prstGeom>
          <a:solidFill>
            <a:srgbClr val="EEB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68880"/>
            <a:ext cx="4352544" cy="54178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FFFFFF"/>
                </a:solidFill>
                <a:latin typeface="Aptos"/>
              </a:defRPr>
            </a:pPr>
            <a:r>
              <a:t>Confirm currency and reporting period.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3111246"/>
            <a:ext cx="82296" cy="82296"/>
          </a:xfrm>
          <a:prstGeom prst="rect">
            <a:avLst/>
          </a:prstGeom>
          <a:solidFill>
            <a:srgbClr val="EEB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1696" y="3028950"/>
            <a:ext cx="4352544" cy="54178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FFFFFF"/>
                </a:solidFill>
                <a:latin typeface="Aptos"/>
              </a:defRPr>
            </a:pPr>
            <a:r>
              <a:t>Reconcile revenue, expense and profit totals.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3671316"/>
            <a:ext cx="82296" cy="82296"/>
          </a:xfrm>
          <a:prstGeom prst="rect">
            <a:avLst/>
          </a:prstGeom>
          <a:solidFill>
            <a:srgbClr val="EEB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11696" y="3589020"/>
            <a:ext cx="4352544" cy="54178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FFFFFF"/>
                </a:solidFill>
                <a:latin typeface="Aptos"/>
              </a:defRPr>
            </a:pPr>
            <a:r>
              <a:t>Verify variance signs and budget status thresholds.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4231386"/>
            <a:ext cx="82296" cy="82296"/>
          </a:xfrm>
          <a:prstGeom prst="rect">
            <a:avLst/>
          </a:prstGeom>
          <a:solidFill>
            <a:srgbClr val="EEB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4149090"/>
            <a:ext cx="4352544" cy="541782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l">
              <a:spcAft>
                <a:spcPts val="300"/>
              </a:spcAft>
              <a:defRPr sz="1250" b="0" i="0">
                <a:solidFill>
                  <a:srgbClr val="FFFFFF"/>
                </a:solidFill>
                <a:latin typeface="Aptos"/>
              </a:defRPr>
            </a:pPr>
            <a:r>
              <a:t>Check slicers, measures and trend calculations.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ctr">
              <a:spcAft>
                <a:spcPts val="300"/>
              </a:spcAft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172200"/>
            <a:ext cx="10698480" cy="201168"/>
          </a:xfrm>
          <a:prstGeom prst="rect">
            <a:avLst/>
          </a:prstGeom>
          <a:noFill/>
        </p:spPr>
        <p:txBody>
          <a:bodyPr wrap="square" lIns="45720" rIns="45720" tIns="32004" bIns="22860">
            <a:spAutoFit/>
          </a:bodyPr>
          <a:lstStyle/>
          <a:p>
            <a:pPr algn="ctr">
              <a:spcAft>
                <a:spcPts val="300"/>
              </a:spcAft>
              <a:defRPr sz="900" b="0" i="0">
                <a:solidFill>
                  <a:srgbClr val="AABED5"/>
                </a:solidFill>
                <a:latin typeface="Aptos"/>
              </a:defRPr>
            </a:pPr>
            <a:r>
              <a:t>Financial Performance &amp; Budget Control | Microsoft Power 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